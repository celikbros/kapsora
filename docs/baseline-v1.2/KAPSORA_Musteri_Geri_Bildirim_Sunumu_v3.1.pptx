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apsora_asset_city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566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21792" y="1115568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Hak, Fayda ve Hizmet Orkestrasyon Platformu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1792" y="1874520"/>
            <a:ext cx="4709160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ve kuruluşların farklı hak sahibi gruplarına sunduğu sağlık, konaklama, asistans, eğitim, sosyal destek ve benzeri hizmetlerin tek platformdan yönetimi.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" y="3246120"/>
            <a:ext cx="2176272" cy="246888"/>
          </a:xfrm>
          <a:prstGeom prst="roundRect">
            <a:avLst>
              <a:gd name="adj" fmla="val 18519"/>
            </a:avLst>
          </a:prstGeom>
          <a:solidFill>
            <a:srgbClr val="F5B544">
              <a:alpha val="90000"/>
            </a:srgbClr>
          </a:solidFill>
          <a:ln w="8890">
            <a:solidFill>
              <a:srgbClr val="F5B544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3296412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geri bildirim sunumu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621792" y="3730752"/>
            <a:ext cx="4297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sistemi tek başına okuyup anlayabilmeniz ve görüşlerinizi ürün tasarımına dahil edebilmemiz.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sunumdan ne bekliyoruz?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henüz ürünleşme aşamasında; müşteri görüşü mimari ve ticari kararları netleştirecek.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6304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19072"/>
            <a:ext cx="28346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Sorununuzu doğrulamak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31136"/>
            <a:ext cx="27889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Çalışan, üye, müşteri, sigortalı veya diğer hak sahibi gruplarının haklarını bugün nasıl yönetiyorsunuz?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Sağlayıcı, fatura, onay ve mutabakat tarafında hangi darboğazlar var?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Sadece sağlık mı, yoksa farklı hizmet kategorileri de önemli mi?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719072"/>
            <a:ext cx="28346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Kapsamı birlikte netleştirmek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5152" y="2231136"/>
            <a:ext cx="27889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İlk pilotta hangi hizmet dikeyi daha değerli olur?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Hangi entegrasyonlar zorunlu, hangileri sonraya bırakılabilir?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Kurum içi onay, limit ve ödeme kuralları nasıl çalışmalı?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8211312" y="1463040"/>
            <a:ext cx="3337560" cy="3520440"/>
          </a:xfrm>
          <a:prstGeom prst="roundRect">
            <a:avLst>
              <a:gd name="adj" fmla="val 1918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719072"/>
            <a:ext cx="28346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Satın alma mantığını anlamak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21624" y="2231136"/>
            <a:ext cx="278892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 ürün hangi birimin bütçesine girer?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Lisans, işlem başı veya operasyon hizmeti modeli nasıl algılanır?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Pilot için kabul kriterleri ne olmalı?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777240" y="5532120"/>
            <a:ext cx="1060704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beklentisi: Sunum sonunda müşterinin “bu sistem bizde şu süreçleri çözer / çözmez” diyebilmesi.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apsora_asset_islands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problem: dağınık hak ve hizmet yönetimi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Kurumlar farklı çalışan, üye, müşteri ve yararlanıcı gruplarına çok sayıda fayda sunuyor; ancak yönetim çoğu zaman parçalı ilerliyor.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17320"/>
            <a:ext cx="4754880" cy="4526280"/>
          </a:xfrm>
          <a:prstGeom prst="roundRect">
            <a:avLst>
              <a:gd name="adj" fmla="val 1414"/>
            </a:avLst>
          </a:prstGeom>
          <a:solidFill>
            <a:srgbClr val="071526">
              <a:alpha val="92000"/>
            </a:srgbClr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Sahadaki tipik tablo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2212848"/>
            <a:ext cx="416052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 sahipliği İK, üyelik, CRM, poliçe, öğrenci veya farklı listelerden kontrol ediliyor.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Sağlayıcı anlaşmaları Excel, e-posta veya ayrı sistemlerde duruyor.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Rezervasyon, provizyon, hizmet gerçekleşmesi ve fatura birbirinden kopuk ilerliyor.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Kurum, sağlayıcı ve hak sahibi aynı gerçeklik üzerinde çalışmıyor.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Denetim izi ve veri güvenliği süreçten sonra düşünülüyor.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0" y="1417320"/>
            <a:ext cx="4526280" cy="4526280"/>
          </a:xfrm>
          <a:prstGeom prst="roundRect">
            <a:avLst>
              <a:gd name="adj" fmla="val 1414"/>
            </a:avLst>
          </a:prstGeom>
          <a:solidFill>
            <a:srgbClr val="071526">
              <a:alpha val="92000"/>
            </a:srgbClr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21424" y="1691640"/>
            <a:ext cx="39319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21424" y="2212848"/>
            <a:ext cx="397764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Operasyonel yük artıyor.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Mükerrer veya hatalı ödeme riski büyüyor.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 sahibi neyi kullanabileceğini net göremiyor.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Sağlayıcı ödemesini ve kesintisini takip edemiyor.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Yönetim gerçek maliyet ve kullanım verisini geç görüyor.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6821424" y="5175504"/>
            <a:ext cx="38862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bu parçaları tek bir kontrollü akışta birleştirir.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bir “hak ve hizmet işletim sistemi”dir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 çekirdeği sağlık provizyonu değildir; hak sahibi + hizmet sağlayıcı + kural + fatura + ödeme orkestrasyonudur.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2743200" cy="3977640"/>
          </a:xfrm>
          <a:prstGeom prst="roundRect">
            <a:avLst>
              <a:gd name="adj" fmla="val 2333"/>
            </a:avLst>
          </a:prstGeom>
          <a:solidFill>
            <a:srgbClr val="0D25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609344"/>
            <a:ext cx="21945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103120"/>
            <a:ext cx="214884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Çalışan / emekli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Üye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Sigortalı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Müşteri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Öğrenci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Yararlanıcı / aile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59352" y="1609344"/>
            <a:ext cx="42519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96512" y="2313432"/>
            <a:ext cx="3977640" cy="0"/>
          </a:xfrm>
          <a:prstGeom prst="line">
            <a:avLst/>
          </a:prstGeom>
          <a:noFill/>
          <a:ln w="16510">
            <a:solidFill>
              <a:srgbClr val="2D55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9624" y="2148840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2203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21024" y="257860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tanımı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47872" y="292608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limit, dönem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889754" y="214884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9754" y="2203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1154" y="257860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Uygunluk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88002" y="292608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ve tarih kontrolü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929884" y="214884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9884" y="2203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01284" y="257860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28132" y="292608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Onay/ret/kısmi onay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970014" y="214884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0014" y="2203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41414" y="257860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68262" y="292608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Randevu/rezervasyon/claim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010144" y="214884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10144" y="22037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81544" y="257860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Mutabakat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08392" y="292608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ve ödeme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4096512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her hizmet için aynı soruyu cevaplar: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60520" y="4416552"/>
            <a:ext cx="38404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 kişi, bu tarihte, bu sağlayıcıdan, hangi hizmeti, hangi kuralla ve hangi maliyet paylaşımıyla alabilir?”</a:t>
            </a:r>
            <a:endParaRPr lang="en-US" sz="1420" dirty="0"/>
          </a:p>
        </p:txBody>
      </p:sp>
      <p:sp>
        <p:nvSpPr>
          <p:cNvPr id="35" name="Shape 33"/>
          <p:cNvSpPr/>
          <p:nvPr/>
        </p:nvSpPr>
        <p:spPr>
          <a:xfrm>
            <a:off x="8796528" y="1325880"/>
            <a:ext cx="2743200" cy="3977640"/>
          </a:xfrm>
          <a:prstGeom prst="roundRect">
            <a:avLst>
              <a:gd name="adj" fmla="val 2333"/>
            </a:avLst>
          </a:prstGeom>
          <a:solidFill>
            <a:srgbClr val="0D25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34272" y="1609344"/>
            <a:ext cx="21945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değildir?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34272" y="2103120"/>
            <a:ext cx="2148840" cy="1755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Hastane otomasyonu değil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Poliçe çekirdeği değil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Muhasebe sistemi değil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Basit avantaj katalogu değil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Genel pazaryeri değil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34272" y="4361688"/>
            <a:ext cx="20574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sponsor kurumun/programın kuralına göre kapalı devre hizmet hakkını yönetir.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hangi kurumlarda kullanılabilir?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sınırı sektör değildir. Banka ve sigorta şirketleri öncelikli ticari segmentlerdir; çekirdek platform tüm kurum ve kuruluşlara açıktır.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536192"/>
            <a:ext cx="5029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90472" y="1536192"/>
            <a:ext cx="1261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&amp; sigorta: çalışan, emekli, müşteri, sigortalı ve asistans programları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137160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1536192"/>
            <a:ext cx="5029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16552" y="1536192"/>
            <a:ext cx="1261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&amp; şirket: yan hak, sosyal tesis, eğitim ve destek programları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137160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1536192"/>
            <a:ext cx="5029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42632" y="1536192"/>
            <a:ext cx="1261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&amp; belediye: personel, sosyal yardım ve yararlanıcı hizmetleri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260604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2770632"/>
            <a:ext cx="5029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0472" y="2770632"/>
            <a:ext cx="1261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Dernek, vakıf &amp; sandık: üye ve yararlanıcı hakları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03320" y="260604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2770632"/>
            <a:ext cx="5029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16552" y="2770632"/>
            <a:ext cx="1261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Sendika, oda &amp; birlik: üyelik temelli hizmet ve destekler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260604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2770632"/>
            <a:ext cx="5029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42632" y="2770632"/>
            <a:ext cx="1261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Üniversite, kooperatif &amp; diğer üyelik yapıları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" y="3931920"/>
            <a:ext cx="10561320" cy="1664208"/>
          </a:xfrm>
          <a:prstGeom prst="roundRect">
            <a:avLst>
              <a:gd name="adj" fmla="val 3846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model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78992" y="4590288"/>
            <a:ext cx="9829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tipi değişse de çekirdek soru değişmez: Kim hak sahibi? Hangi programa bağlı? Hangi hizmeti, hangi sağlayıcıdan, hangi limit ve finansman kuralıyla alabilir? Hizmet gerçekleşti mi ve kurum ne kadar ödemeli?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1078992" y="5650992"/>
            <a:ext cx="98298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ilke: “çalışan”, “sigortalı” veya “üye” sistemin çekirdeği değildir; çekirdek sponsor + program + hak sahibi + hak + sağlayıcı ilişkisidir.</a:t>
            </a:r>
            <a:endParaRPr lang="en-US" sz="13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apsora_asset_wallet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 evreni: sağlıkla başlar, kurumsal faydaya genişler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dikey bazlı büyür; her hizmetin kendi detayları olur, ortak çekirdek aynı kalır.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31520" y="1417320"/>
            <a:ext cx="3127248" cy="1207008"/>
          </a:xfrm>
          <a:prstGeom prst="roundRect">
            <a:avLst>
              <a:gd name="adj" fmla="val 5303"/>
            </a:avLst>
          </a:prstGeom>
          <a:solidFill>
            <a:srgbClr val="071526">
              <a:alpha val="88000"/>
            </a:srgbClr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618488"/>
            <a:ext cx="2697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1984248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Hastane, klinik, tetkik, diş, psikolog, fizik tedavi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480560" y="1417320"/>
            <a:ext cx="3127248" cy="1207008"/>
          </a:xfrm>
          <a:prstGeom prst="roundRect">
            <a:avLst>
              <a:gd name="adj" fmla="val 5303"/>
            </a:avLst>
          </a:prstGeom>
          <a:solidFill>
            <a:srgbClr val="071526">
              <a:alpha val="88000"/>
            </a:srgbClr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5152" y="1618488"/>
            <a:ext cx="2697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Konaklama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45152" y="1984248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Otel, sosyal tesis, termal tesis, kamp, voucher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229600" y="1417320"/>
            <a:ext cx="3127248" cy="1207008"/>
          </a:xfrm>
          <a:prstGeom prst="roundRect">
            <a:avLst>
              <a:gd name="adj" fmla="val 5303"/>
            </a:avLst>
          </a:prstGeom>
          <a:solidFill>
            <a:srgbClr val="071526">
              <a:alpha val="88000"/>
            </a:srgbClr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94192" y="1618488"/>
            <a:ext cx="2697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Asistans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94192" y="1984248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yardım, ev hizmeti, çilingir, tesisatçı, ikame araç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31520" y="3264408"/>
            <a:ext cx="3127248" cy="1207008"/>
          </a:xfrm>
          <a:prstGeom prst="roundRect">
            <a:avLst>
              <a:gd name="adj" fmla="val 5303"/>
            </a:avLst>
          </a:prstGeom>
          <a:solidFill>
            <a:srgbClr val="071526">
              <a:alpha val="88000"/>
            </a:srgbClr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3465576"/>
            <a:ext cx="2697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96112" y="3831336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Kurs, sertifika, çocuk eğitim desteği, online üyelik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4480560" y="3264408"/>
            <a:ext cx="3127248" cy="1207008"/>
          </a:xfrm>
          <a:prstGeom prst="roundRect">
            <a:avLst>
              <a:gd name="adj" fmla="val 5303"/>
            </a:avLst>
          </a:prstGeom>
          <a:solidFill>
            <a:srgbClr val="071526">
              <a:alpha val="88000"/>
            </a:srgbClr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5152" y="3465576"/>
            <a:ext cx="2697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 &amp; yaşam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645152" y="3831336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 salonu, spa, etkinlik, kültür-sanat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229600" y="3264408"/>
            <a:ext cx="3127248" cy="1207008"/>
          </a:xfrm>
          <a:prstGeom prst="roundRect">
            <a:avLst>
              <a:gd name="adj" fmla="val 5303"/>
            </a:avLst>
          </a:prstGeom>
          <a:solidFill>
            <a:srgbClr val="071526">
              <a:alpha val="88000"/>
            </a:srgbClr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94192" y="3465576"/>
            <a:ext cx="2697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94192" y="3831336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Evde bakım, yaşlı bakım, çocuk bakım, refakat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1097280" y="5532120"/>
            <a:ext cx="99669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tasarım kararı: Her dikey kendi özel alanlarına sahip olur; fakat hak, kural, onay, fatura, icmal ve audit çekirdeği ortak kalır.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Platformdaki aktörler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taraf kendi portalından aynı sürecin kendisine düşen bölümünü görür.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53312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08760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sahibi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26974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Hakkını görür, talep açar, rezervasyon yapar, katkı payını görür.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263640" y="1353312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102A43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508760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/ sponsor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81838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Planları, limitleri, sağlayıcıları, onayları ve maliyeti yönetir.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77240" y="2834640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990088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269748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Hizmeti sunar, gerçekleşmeyi kaydeder, fatura ve icmal oluşturur.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263640" y="2834640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102A43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990088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/ operasyonel değerlendirici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818388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belge, uygunluk, eksik bilgi ve itirazları inceler.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77240" y="4315968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471416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 / mutabakat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2697480" y="4471416"/>
            <a:ext cx="2560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Kesinti, iade, ödeme emri ve cari mutabakatı takip eder.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6263640" y="4315968"/>
            <a:ext cx="4800600" cy="987552"/>
          </a:xfrm>
          <a:prstGeom prst="roundRect">
            <a:avLst>
              <a:gd name="adj" fmla="val 6481"/>
            </a:avLst>
          </a:prstGeom>
          <a:solidFill>
            <a:srgbClr val="102A43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4471416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yöneticisi</a:t>
            </a:r>
            <a:endParaRPr lang="en-US" sz="1380" dirty="0"/>
          </a:p>
        </p:txBody>
      </p:sp>
      <p:sp>
        <p:nvSpPr>
          <p:cNvPr id="25" name="Text 23"/>
          <p:cNvSpPr/>
          <p:nvPr/>
        </p:nvSpPr>
        <p:spPr>
          <a:xfrm>
            <a:off x="8183880" y="4471416"/>
            <a:ext cx="2560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rol, güvenlik politikası ve entegrasyonları yönetir.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1051560" y="6053328"/>
            <a:ext cx="99669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modeli yalnız rol bazlı değildir; kullanıcının kurumu, sözleşmesi, hizmet kategorisi, hassas veri seviyesi ve işlem aşaması da dikkate alınır.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mekanizma: hak sahipliği ve hak cüzdanı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önce kişinin hak sahibi olup olmadığını, sonra ilgili hakkın yeterli ve geçerli olup olmadığını kontrol eder.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3200400" cy="4160520"/>
          </a:xfrm>
          <a:prstGeom prst="roundRect">
            <a:avLst>
              <a:gd name="adj" fmla="val 2000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27632"/>
            <a:ext cx="2606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sahipliği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084832"/>
            <a:ext cx="260604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Kişi hangi kurum / programa bağlı?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Hizmet tarihinde aktif mi?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Aile bireyi veya bağımlı kişi kapsamda mı?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Plan, dönem ve bekleme kuralları geçerli mi?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Sağlayıcı bu plan için anlaşmalı mı?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4462272" y="1371600"/>
            <a:ext cx="3200400" cy="4160520"/>
          </a:xfrm>
          <a:prstGeom prst="roundRect">
            <a:avLst>
              <a:gd name="adj" fmla="val 2000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627632"/>
            <a:ext cx="2606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cüzdanı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2084832"/>
            <a:ext cx="260604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Para: 20.000 TL bütçe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Gece: yılda 7 gece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Seans: 10 psikolog seansı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Adet: 2 check-up hakkı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Saat: 20 saat bakım hizmeti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Puan: kurum içi sosyal fayda puanı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3200400" cy="4160520"/>
          </a:xfrm>
          <a:prstGeom prst="roundRect">
            <a:avLst>
              <a:gd name="adj" fmla="val 2000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627632"/>
            <a:ext cx="2606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mantığı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58200" y="2084832"/>
            <a:ext cx="26060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 doğrudan silinmez; hareket yazılır.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Rezervasyon önce hak ayırır.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Hizmet gerçekleşirse tüketir.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İptalde hak serbest bırakılır.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Düzeltme yeni hareketle yapılır.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1078992" y="5806440"/>
            <a:ext cx="9875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yapı sağlıkta provizyon limitini, tatilde gece hakkını, asistans hizmetinde çağrı hakkını aynı çekirdekte yönetir.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çalışma akışı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KAPSORA’nın değeri ekran sayısında değil, bütün akışı aynı veri modeliyle izlemesindedir.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10469880" cy="0"/>
          </a:xfrm>
          <a:prstGeom prst="line">
            <a:avLst/>
          </a:prstGeom>
          <a:noFill/>
          <a:ln w="16510">
            <a:solidFill>
              <a:srgbClr val="2D55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481328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Haklar ve limitler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36982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982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122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6806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ve hizmetler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14528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528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1668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352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 / rezervasyon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92074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074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9214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1898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Uygunluk ve fiyat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69620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620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760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9444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veya manuel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947166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7166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4306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6990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Gerçekleşme kaydı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1124712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4712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1852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94536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İcmal ve ödeme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868680" y="365760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Öncesinde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7280" y="4343400"/>
            <a:ext cx="2651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Kural, sözleşme ve haklar tanımlanır. Sağlayıcı ağı ve hizmet katalogu hazırlanır.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434840" y="365760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sırasında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63440" y="4343400"/>
            <a:ext cx="2651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uygunluk, limit, fiyat, belge ve onay kurallarını çalıştırır.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01000" y="365760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Sonrasında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29600" y="4343400"/>
            <a:ext cx="2651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Fatura, kesinti, iade, ödeme, mutabakat ve raporlama tamamlanır.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96112" y="5650992"/>
            <a:ext cx="104241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adımda audit, durum geçmişi, belge bağı ve kural sonucu saklanır.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1: sağlık provizyonu ve claim yönetimi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dikeyi; hak sahipliği, tanı, işlem, belge, tıbbi onay, fatura ve icmal süreçlerini destekler.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4846320" cy="4343400"/>
          </a:xfrm>
          <a:prstGeom prst="roundRect">
            <a:avLst>
              <a:gd name="adj" fmla="val 1474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akış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2057400"/>
            <a:ext cx="425196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 sahibi anlaşmalı sağlık tesisine başvurur.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Tesis veya çağrı merkezi uygunluk sorgusu yapar.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Başvuru ve takip kaydı açılır.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Tanı, muayene, tetkik, ilaç, malzeme veya işlem satırları girilir.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Kural motoru kapsam, limit, belge ve fiyat kontrolü yapar.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Ön onay gereken durumlar değerlendirme kuyruğuna düşer.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Kesinleşen hizmetler fatura ve icmale bağlanır.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080760" y="1325880"/>
            <a:ext cx="5321808" cy="4343400"/>
          </a:xfrm>
          <a:prstGeom prst="roundRect">
            <a:avLst>
              <a:gd name="adj" fmla="val 1474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00200"/>
            <a:ext cx="4800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Kurumun kazanımı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5080" y="2057400"/>
            <a:ext cx="461772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Sağlık tesisinin talep ettiği tutar ile kurum kuralına göre onaylanan tutar ayrılır.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Tıbbi belge ve gerekçe aynı dosyada tutulur.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Kesinti, iade, ret ve kısmi onay açıklanabilir hale gelir.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Hassas sağlık verisi yalnız yetkili roller tarafından görülür.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Fatura ve ödeme süreci claim ile ilişkilendirilir.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355080" y="4736592"/>
            <a:ext cx="4617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KAPSORA hastane otomasyonunun yerine geçmez; sağlık tesisinin sisteminde oluşan veriyi kurumun hak ve ödeme kurallarıyla ilişkilendirir.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2: tatil, konaklama ve sosyal tesis yönetimi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çekirdek, bu kez gece hakkı, kontenjan, rezervasyon, voucher, iptal ve katkı payı yönetir.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4206240" cy="4389120"/>
          </a:xfrm>
          <a:prstGeom prst="roundRect">
            <a:avLst>
              <a:gd name="adj" fmla="val 152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hak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2057400"/>
            <a:ext cx="358444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“Emekli çalışan ve eşi yılda 7 gece anlaşmalı tesislerde konaklayabilir. Kurum standart oda bedelinin %60’ını karşılar; oda yükseltme farkı hak sahibine aittir.”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3246120"/>
            <a:ext cx="35204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Sezon ve tesis bazlı kontenjan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Bekleme listesi veya kura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Ücretsiz iptal süresi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No-show cezası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Kurum payı ve hak sahibi payı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2356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akışı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742432" y="2496312"/>
            <a:ext cx="5010912" cy="0"/>
          </a:xfrm>
          <a:prstGeom prst="line">
            <a:avLst/>
          </a:prstGeom>
          <a:noFill/>
          <a:ln w="16510">
            <a:solidFill>
              <a:srgbClr val="2D55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95544" y="2331720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5544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66944" y="27614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seçimi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93792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ve oda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6534302" y="23317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4302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5702" y="27614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kontrolü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32550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 gece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7573061" y="23317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3061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44461" y="27614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71309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Kontenjan ayırma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8611819" y="23317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1819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83219" y="27614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10067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Katkı payı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9650578" y="23317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50578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21978" y="27614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348826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kodu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10689336" y="23317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89336" y="23865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460736" y="27614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Mutabakat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387584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5715000" y="4526280"/>
            <a:ext cx="4983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fark: Sağlıkta “claim”, konaklamada “rezervasyon” ana işlem türüdür. Ortak çekirdek ise hak, kural, fatura, ödeme ve audit’tir.</a:t>
            </a:r>
            <a:endParaRPr lang="en-US" sz="12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3: asistans ve saha hizmetleri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yardım, ev hizmeti, bakım ve benzeri süreçlerde platform iş emri mantığıyla çalışır.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246120" cy="1335024"/>
          </a:xfrm>
          <a:prstGeom prst="roundRect">
            <a:avLst>
              <a:gd name="adj" fmla="val 479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60020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65506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609344"/>
            <a:ext cx="21945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1325880" y="1947672"/>
            <a:ext cx="2240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sahibi uygulamadan veya çağrı merkezi üzerinden talep açar.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4535424" y="1417320"/>
            <a:ext cx="3246120" cy="1335024"/>
          </a:xfrm>
          <a:prstGeom prst="roundRect">
            <a:avLst>
              <a:gd name="adj" fmla="val 479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160020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65506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9784" y="1609344"/>
            <a:ext cx="21945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Uygunluk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5129784" y="1947672"/>
            <a:ext cx="2240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hizmet hakkı, konum, limit ve sözleşmeli sağlayıcıyı kontrol eder.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8339328" y="1417320"/>
            <a:ext cx="3246120" cy="1335024"/>
          </a:xfrm>
          <a:prstGeom prst="roundRect">
            <a:avLst>
              <a:gd name="adj" fmla="val 479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160020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165506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33688" y="1609344"/>
            <a:ext cx="21945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933688" y="1947672"/>
            <a:ext cx="2240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ekip, tedarikçi veya servis noktası atanır.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31520" y="3319272"/>
            <a:ext cx="3246120" cy="1335024"/>
          </a:xfrm>
          <a:prstGeom prst="roundRect">
            <a:avLst>
              <a:gd name="adj" fmla="val 479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3502152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55701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25880" y="3511296"/>
            <a:ext cx="21945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1325880" y="3849624"/>
            <a:ext cx="2240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Müdahale süresi, gecikme ve eskalasyon izlenir.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535424" y="3319272"/>
            <a:ext cx="3246120" cy="1335024"/>
          </a:xfrm>
          <a:prstGeom prst="roundRect">
            <a:avLst>
              <a:gd name="adj" fmla="val 479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0016" y="3502152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355701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9784" y="3511296"/>
            <a:ext cx="21945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endParaRPr lang="en-US" sz="1520" dirty="0"/>
          </a:p>
        </p:txBody>
      </p:sp>
      <p:sp>
        <p:nvSpPr>
          <p:cNvPr id="32" name="Text 30"/>
          <p:cNvSpPr/>
          <p:nvPr/>
        </p:nvSpPr>
        <p:spPr>
          <a:xfrm>
            <a:off x="5129784" y="3849624"/>
            <a:ext cx="2240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 tamamlandığında fotoğraf, kod veya imza alınır.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8339328" y="3319272"/>
            <a:ext cx="3246120" cy="1335024"/>
          </a:xfrm>
          <a:prstGeom prst="roundRect">
            <a:avLst>
              <a:gd name="adj" fmla="val 479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3502152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355701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33688" y="3511296"/>
            <a:ext cx="21945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</a:t>
            </a:r>
            <a:endParaRPr lang="en-US" sz="1520" dirty="0"/>
          </a:p>
        </p:txBody>
      </p:sp>
      <p:sp>
        <p:nvSpPr>
          <p:cNvPr id="37" name="Text 35"/>
          <p:cNvSpPr/>
          <p:nvPr/>
        </p:nvSpPr>
        <p:spPr>
          <a:xfrm>
            <a:off x="8933688" y="3849624"/>
            <a:ext cx="2240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 fiyatı, ek hizmetler ve kesinti hesaplanır.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1005840" y="5715000"/>
            <a:ext cx="10058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modül sigorta asistansı, müşteri ayrıcalığı, üyelik programı, çalışan desteği ve sosyal yardım programları için ayrı ayrı konfigüre edilebilir.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Portallar ve kullanıcı deneyimi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tek veriyi farklı rollere farklı derinlikte gösterir.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166360" cy="708660"/>
          </a:xfrm>
          <a:prstGeom prst="rect">
            <a:avLst/>
          </a:prstGeom>
          <a:solidFill>
            <a:srgbClr val="12304D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90472"/>
            <a:ext cx="1704899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91410" y="1490472"/>
            <a:ext cx="3099816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kullanım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125980"/>
            <a:ext cx="5166360" cy="7086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99132"/>
            <a:ext cx="1704899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sahibi uygulaması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2591410" y="2199132"/>
            <a:ext cx="3099816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Hakları görme, talep açma, rezervasyon, voucher, katkı payı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5166360" cy="7086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07792"/>
            <a:ext cx="1704899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yönetim paneli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2591410" y="2907792"/>
            <a:ext cx="3099816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limit, onay, rapor, maliyet, sağlayıcı ağı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31520" y="3543300"/>
            <a:ext cx="5166360" cy="7086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16452"/>
            <a:ext cx="1704899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portalı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2591410" y="3616452"/>
            <a:ext cx="3099816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Uygunluk sorgusu, hizmet kaydı, belge, fatura, icmal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31520" y="4251960"/>
            <a:ext cx="5166360" cy="7086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325112"/>
            <a:ext cx="1704899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ekranı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591410" y="4325112"/>
            <a:ext cx="3099816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belge, onay/ret/kısmi onay, gerekçe, itiraz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31520" y="4960620"/>
            <a:ext cx="5166360" cy="7086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033772"/>
            <a:ext cx="1704899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 paneli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591410" y="5033772"/>
            <a:ext cx="3099816" cy="6172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Kesinti, iade, ödeme emri, mutabakat, cari rapor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446520" y="1417320"/>
            <a:ext cx="4983480" cy="4251960"/>
          </a:xfrm>
          <a:prstGeom prst="roundRect">
            <a:avLst>
              <a:gd name="adj" fmla="val 150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prensipleri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20840" y="2194560"/>
            <a:ext cx="4251960" cy="17556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rol yalnız kendi işini yapar; gereksiz sağlık veya kişisel veri görmez.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İşlem durumu tek kaynaktan gelir: talep, onay, hizmet, fatura ve ödeme zinciri izlenir.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Ekranlar mobil uyumlu tasarlanır; sağlayıcı tarafı hızlı işlem yapmaya odaklanır.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 sahibi net ödeme tutarını ve kalan hakkını önceden görür.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6720840" y="4773168"/>
            <a:ext cx="41605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müşteriye gönderilecek basit bir katalog değil; kurum operasyonunun çalışma ekranıdır.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motoru: kararlar açıklanabilir olmalı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Onay, ret, kesinti ve katkı payı kararları kodun içine gömülü değil; versiyonlu kurallarla yönetilir.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246120" cy="4251960"/>
          </a:xfrm>
          <a:prstGeom prst="roundRect">
            <a:avLst>
              <a:gd name="adj" fmla="val 19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türleri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2057400"/>
            <a:ext cx="26060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 sahipliği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Kapsam ve istisna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Yıllık/dönemsel limit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Bekleme süresi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Belge zorunluluğu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Ön onay gerekliliği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Sağlayıcı sözleşmesi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Fiyat ve katkı payı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246120" cy="4251960"/>
          </a:xfrm>
          <a:prstGeom prst="roundRect">
            <a:avLst>
              <a:gd name="adj" fmla="val 19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sonuçları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2057400"/>
            <a:ext cx="26060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Otomatik onay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Manuel inceleme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Eksik belge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Kısmi onay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Kesinti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İade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Uyarı ile devam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246120" cy="4251960"/>
          </a:xfrm>
          <a:prstGeom prst="roundRect">
            <a:avLst>
              <a:gd name="adj" fmla="val 19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Açıklanabilirlik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94192" y="2084832"/>
            <a:ext cx="25603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karar şu bilgilerle saklanır: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394192" y="2450592"/>
            <a:ext cx="2578608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Çalışan kuralın adı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Kural sürümü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Talep edilen tutar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Onaylanan tutar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Kesinti gerekçesi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Kararı veren kullanıcı veya otomasyon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94192" y="4663440"/>
            <a:ext cx="2542032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sayede karar denetlenebilir ve itiraz yönetilebilir.</a:t>
            </a:r>
            <a:endParaRPr lang="en-US" sz="12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ağı, sözleşme ve fiyatlandırma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Kurumların gerçek maliyeti, hizmet sağlayıcı sözleşmelerinin doğru yönetilmesine bağlıdır.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5577840" cy="723900"/>
          </a:xfrm>
          <a:prstGeom prst="rect">
            <a:avLst/>
          </a:prstGeom>
          <a:solidFill>
            <a:srgbClr val="12304D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90472"/>
            <a:ext cx="1840687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39542" y="1490472"/>
            <a:ext cx="3346704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141220"/>
            <a:ext cx="5577840" cy="72390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14372"/>
            <a:ext cx="1840687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2739542" y="2214372"/>
            <a:ext cx="3346704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Hastane, otel, yol yardım firması, eğitim kurumu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31520" y="2865120"/>
            <a:ext cx="5577840" cy="72390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38272"/>
            <a:ext cx="1840687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/ tesis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2739542" y="2938272"/>
            <a:ext cx="3346704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Sağlayıcının lokasyonu, kapasitesi ve hizmetleri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31520" y="3589020"/>
            <a:ext cx="5577840" cy="72390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62172"/>
            <a:ext cx="1840687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2739542" y="3662172"/>
            <a:ext cx="3346704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Kurum, plan, hizmet, fiyat, iskonto, geçerlilik dönemi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31520" y="4312920"/>
            <a:ext cx="5577840" cy="72390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386072"/>
            <a:ext cx="1840687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modeli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739542" y="4386072"/>
            <a:ext cx="3346704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fiyatı, sözleşmeli fiyat, paket fiyat, yüzde destek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31520" y="5036820"/>
            <a:ext cx="5577840" cy="72390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109972"/>
            <a:ext cx="1840687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Kapasite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739542" y="5109972"/>
            <a:ext cx="3346704" cy="6324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oda kontenjanı, randevu slotu, servis bölgesi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812280" y="1417320"/>
            <a:ext cx="4526280" cy="4343400"/>
          </a:xfrm>
          <a:prstGeom prst="roundRect">
            <a:avLst>
              <a:gd name="adj" fmla="val 1474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Tarihsel doğruluk zorunlu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86600" y="2148840"/>
            <a:ext cx="3703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ve sözleşme değiştikten sonra eski işlem yeniden hesaplandığında, işlem tarihinde geçerli olan kural ve sözleşme sürümü kullanılmalıdır.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7086600" y="3246120"/>
            <a:ext cx="37033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Geçerlilik başlangıç/bitiş tarihi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Çakışan fiyat dönemlerini engelleme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Kurum bazlı özel fiyat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bazlı kapsam farkı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Sağlayıcı bazlı limit ve hariç hizmet</a:t>
            </a:r>
            <a:endParaRPr lang="en-US" sz="12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Fatura, icmal, kesinti ve ödeme zinciri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KAPSORA’nın kurumsal değeri, hizmet sonrası finansal mutabakatı da kapatabilmesidir.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581912"/>
            <a:ext cx="10378440" cy="0"/>
          </a:xfrm>
          <a:prstGeom prst="line">
            <a:avLst/>
          </a:prstGeom>
          <a:noFill/>
          <a:ln w="16510">
            <a:solidFill>
              <a:srgbClr val="2D55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417320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721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18470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1945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Gerçekleşti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382012" y="14173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2012" y="14721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53412" y="18470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80260" y="21945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ve tutar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142232" y="14173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14721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13632" y="18470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İcmal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gönderim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902452" y="14173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2452" y="14721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73852" y="18470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00700" y="21945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Kesinti/iade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662672" y="14173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14721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34072" y="18470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60920" y="21945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Ödenecek tutar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9422892" y="14173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2892" y="14721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94292" y="18470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21140" y="21945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11183112" y="14173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83112" y="14721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54512" y="184708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Mutabakat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881360" y="2194560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Kapatma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777240" y="3474720"/>
            <a:ext cx="3200400" cy="1645920"/>
          </a:xfrm>
          <a:prstGeom prst="roundRect">
            <a:avLst>
              <a:gd name="adj" fmla="val 3889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sınırı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7552" y="4096512"/>
            <a:ext cx="2651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MVP’de e-fatura kesilmez. Sağlayıcının kendi sisteminde kesilen fatura KAPSORA’daki hizmet kaydıyla eşleştirilir.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480560" y="3474720"/>
            <a:ext cx="3200400" cy="1645920"/>
          </a:xfrm>
          <a:prstGeom prst="roundRect">
            <a:avLst>
              <a:gd name="adj" fmla="val 3889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Kesinti ve iade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90872" y="4096512"/>
            <a:ext cx="2651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 aykırı veya eksik belgeli işlemler açıklamalı kesinti, kısmi onay veya iade akışına alınır.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183880" y="3474720"/>
            <a:ext cx="3200400" cy="1645920"/>
          </a:xfrm>
          <a:prstGeom prst="roundRect">
            <a:avLst>
              <a:gd name="adj" fmla="val 3889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94192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ve cari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94192" y="4096512"/>
            <a:ext cx="2651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emri, banka referansı, mahsup ve sağlayıcı cari hesap raporları izlenir.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apsora_asset_security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ve veri gizliliği tasarımın merkezinde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sağlık verisi, kimlik verisi, finansal veri ve kurum içi hak verisi işler; güvenlik sonradan eklenemez.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85800" y="1389888"/>
            <a:ext cx="4800600" cy="4434840"/>
          </a:xfrm>
          <a:prstGeom prst="roundRect">
            <a:avLst>
              <a:gd name="adj" fmla="val 1443"/>
            </a:avLst>
          </a:prstGeom>
          <a:solidFill>
            <a:srgbClr val="071526">
              <a:alpha val="95000"/>
            </a:srgbClr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664208"/>
            <a:ext cx="4251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güvenlik kararları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121408"/>
            <a:ext cx="416052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MFA ve kurumsal kimlik sağlayıcı entegrasyonu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 bazlı + bağlamsal yetkilendirme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Hassas alan şifreleme ve arama için blind index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Sağlık verisi için ayrı yetki kapsamı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Break-glass erişim ve sonradan inceleme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Dosya karantina, zararlı yazılım taraması ve checksum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Teknik log ile audit log ayrımı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172200" y="1389888"/>
            <a:ext cx="5257800" cy="4434840"/>
          </a:xfrm>
          <a:prstGeom prst="roundRect">
            <a:avLst>
              <a:gd name="adj" fmla="val 1443"/>
            </a:avLst>
          </a:prstGeom>
          <a:solidFill>
            <a:srgbClr val="071526">
              <a:alpha val="95000"/>
            </a:srgbClr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664208"/>
            <a:ext cx="47091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Kurumlara verilecek güvence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46520" y="2121408"/>
            <a:ext cx="461772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Kimin hangi kişiyi, belgeyi veya işlemi gördüğü kaydedilir.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TCKN veya hassas veri kullanıcı adı, URL, log veya bildirim metnine yazılmaz.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E-posta/SMS içinde sağlık tanısı veya hassas hizmet detayı gönderilmez.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ve test ortamlarında gerçek kişisel veri kullanılmaz.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 saklama, silme, arşivleme ve maskeleme politikaları tenant bazında tanımlanır.</a:t>
            </a:r>
            <a:endParaRPr lang="en-US" sz="1210" dirty="0"/>
          </a:p>
        </p:txBody>
      </p:sp>
      <p:sp>
        <p:nvSpPr>
          <p:cNvPr id="12" name="Text 9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yaklaşımı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kurum sistemlerinin yerine geçmez; doğru noktalarda onlarla konuşur.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72768"/>
            <a:ext cx="1572768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/ üyelik kaynakları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79192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Çalışan, üye, müşteri, öğrenci, yararlanıcı, aile ve organizasyon bilgisi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572768"/>
            <a:ext cx="1572768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Poliçe / sigorta (opsiyonel)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28432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Sigortalı, teminat dönemi, paket ve poliçe aktiflik bilgisi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83464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990088"/>
            <a:ext cx="1572768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sistemleri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9192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Randevu, hizmet gerçekleşmesi, fatura referansı, belge aktarımı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990088"/>
            <a:ext cx="1572768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finans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28432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hesap, ödeme emri, mutabakat ve muhasebe referansları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25196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407408"/>
            <a:ext cx="1572768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servisleri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79192" y="4407408"/>
            <a:ext cx="2514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E-posta, SMS, push, webhook ve görev bildirimleri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425196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4407408"/>
            <a:ext cx="1572768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sağlayıcı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028432" y="4407408"/>
            <a:ext cx="2514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MFA, kullanıcı lifecycle ve grup eşleştirme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5989320"/>
            <a:ext cx="10149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entegrasyonlar API versioning, idempotency, audit, retry ve reconciliation prensipleriyle tasarlanır.</a:t>
            </a:r>
            <a:endParaRPr lang="en-US" sz="13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 ve analitik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yönetimin ihtiyaç duyduğu operasyonel, finansal ve hizmet kullanım verisini tek modelde toplar.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68680" y="1947672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talepler, bekleyen onaylar, SLA ihlalleri, iade nedenleri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89704" y="1417320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4672584" y="1947672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payı, hak sahibi payı, sağlayıcı bazlı fatura, kesinti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93608" y="1417320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6488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476488" y="1947672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hizmet kategorisi, yaş grubu, lokasyon, dönem ve sağlayıcı kırılımı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68680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performansı, itiraz oranı, işlem tamamlama süresi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489704" y="3200400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4672584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Mükerrer işlem, anomali, limit aşımı, olağan dışı kullanım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293608" y="3200400"/>
            <a:ext cx="3310128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</a:t>
            </a:r>
            <a:endParaRPr lang="en-US" sz="1530" dirty="0"/>
          </a:p>
        </p:txBody>
      </p:sp>
      <p:sp>
        <p:nvSpPr>
          <p:cNvPr id="25" name="Text 23"/>
          <p:cNvSpPr/>
          <p:nvPr/>
        </p:nvSpPr>
        <p:spPr>
          <a:xfrm>
            <a:off x="8476488" y="3730752"/>
            <a:ext cx="2697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özet, bütçe tüketimi, trend, tahmin ve karar raporları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960120" y="5669280"/>
            <a:ext cx="10149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 başlangıçta PostgreSQL ve materialized view’lar ile sağlanır; ileri aşamada ayrı analitik veri modeli kurulabilir.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mimari: sade, güvenli, büyüyebilir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sürüm mikroservis karmaşasına girmeden modüler monolith olarak tasarlanır.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9844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Portallar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74720" y="129844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BFF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29844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Katmanı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61120" y="129844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Obje Deposu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017520" y="1755648"/>
            <a:ext cx="438912" cy="0"/>
          </a:xfrm>
          <a:prstGeom prst="line">
            <a:avLst/>
          </a:prstGeom>
          <a:noFill/>
          <a:ln w="19050">
            <a:solidFill>
              <a:srgbClr val="18C6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755648"/>
            <a:ext cx="438912" cy="0"/>
          </a:xfrm>
          <a:prstGeom prst="line">
            <a:avLst/>
          </a:prstGeom>
          <a:noFill/>
          <a:ln w="19050">
            <a:solidFill>
              <a:srgbClr val="18C6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755648"/>
            <a:ext cx="438912" cy="0"/>
          </a:xfrm>
          <a:prstGeom prst="line">
            <a:avLst/>
          </a:prstGeom>
          <a:noFill/>
          <a:ln w="19050">
            <a:solidFill>
              <a:srgbClr val="18C6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880360"/>
            <a:ext cx="10515600" cy="2514600"/>
          </a:xfrm>
          <a:prstGeom prst="roundRect">
            <a:avLst>
              <a:gd name="adj" fmla="val 254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154680"/>
            <a:ext cx="99669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teknolojileri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3611880"/>
            <a:ext cx="982980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Backend: Go, modüler monolith, REST/JSON, OpenAPI 3.1, worker ve scheduler süreçleri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Veritabanı: PostgreSQL, tenant-aware şema, immutable ledger, audit partitioning, transaction outbox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Frontend: React + TypeScript, kurum paneli, sağlayıcı portalı, hak sahibi uygulaması ve admin paneli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Güvenlik: OIDC/SSO, MFA, HttpOnly session, ABAC/RBAC, alan bazlı şifreleme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Operasyon: Docker, Kubernetes production, CI/CD, OpenTelemetry, Prometheus/Grafana, yedekleme ve DR</a:t>
            </a:r>
            <a:endParaRPr lang="en-US" sz="11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modeli: ana nesneler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modeli sağlık ve konaklama gibi dikeyleri aynı çekirdeğe bağlayacak şekilde kurgulanır.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04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859536" y="18013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veya deployment kapsamı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980944" y="13258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4904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3127248" y="18013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faydası, üye hizmeti, sosyal destek, müşteri ayrıcalığı, sigorta asistansı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248656" y="13258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14904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5394960" y="18013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sahibi ve bağlı kişi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516368" y="13258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6096" y="14904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662672" y="18013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Kapsam, limit, dönem ve kural seti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9784080" y="13258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14904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930384" y="18013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ve şube / tesis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13232" y="29260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0906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859536" y="34015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Hizmet, kategori, kod, birim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2980944" y="29260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30906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3127248" y="34015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Talep, başvuru, rezervasyon veya iş emri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248656" y="29260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8384" y="30906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5394960" y="34015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Onay, ret, kısmi onay, belge ihtiyacı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516368" y="29260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6096" y="30906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Ledger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7662672" y="34015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rezervasyon, tüketim ve iade hareketleri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9784080" y="2926080"/>
            <a:ext cx="1874520" cy="987552"/>
          </a:xfrm>
          <a:prstGeom prst="roundRect">
            <a:avLst>
              <a:gd name="adj" fmla="val 648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93808" y="3090672"/>
            <a:ext cx="1645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/ Batch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9930384" y="3401568"/>
            <a:ext cx="157276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Fatura, icmal, ödeme ve mutabakat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868680" y="4937760"/>
            <a:ext cx="10469880" cy="777240"/>
          </a:xfrm>
          <a:prstGeom prst="roundRect">
            <a:avLst>
              <a:gd name="adj" fmla="val 8235"/>
            </a:avLst>
          </a:prstGeom>
          <a:solidFill>
            <a:srgbClr val="102A43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513892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kuralı: kritik işlemler güncellenerek silinmez; yeni sürüm, yeni durum olayı veya yeni ledger hareketi oluşturulur. Bu sayede geçmiş kararlar ve finansal sonuçlar geriye dönük izlenebilir.</a:t>
            </a:r>
            <a:endParaRPr lang="en-US" sz="12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modüller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görüşmelerinde hangi modülün öncelikli olduğu özellikle doğrulanmalıdır.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10789920" cy="560832"/>
          </a:xfrm>
          <a:prstGeom prst="rect">
            <a:avLst/>
          </a:prstGeom>
          <a:solidFill>
            <a:srgbClr val="12304D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399032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0171" y="1399032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886712"/>
            <a:ext cx="10789920" cy="560832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959864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ve program yönetimi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4570171" y="1959864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sponsor, program, plan, dönem, kullanıcı ve rol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85800" y="2447544"/>
            <a:ext cx="10789920" cy="560832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520696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sahipliği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570171" y="2520696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Kişi, aile/bağımlı kişi, enrollment, uygunluk sorgusu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85800" y="3008376"/>
            <a:ext cx="10789920" cy="560832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081528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 katalogu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570171" y="3081528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Kategori, hizmet, kod, birim, belge ve fiyat ilişkileri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85800" y="3569208"/>
            <a:ext cx="10789920" cy="560832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642360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ağı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570171" y="3642360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Sağlayıcı, şube/tesis, sözleşme, kapasite, hizmet kapsamı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85800" y="4130040"/>
            <a:ext cx="10789920" cy="560832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4203192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ve orkestrasyon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4570171" y="4203192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Başvuru, rezervasyon, iş emri, claim, durum makinesi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85800" y="4690872"/>
            <a:ext cx="10789920" cy="560832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764024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ve karar motoru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4570171" y="4764024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Hak, kapsam, limit, belge, fiyat, onay, kesinti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85800" y="5251704"/>
            <a:ext cx="10789920" cy="560832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5324856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ve mutabakat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4570171" y="5324856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referansı, icmal, kesinti, ödeme, cari rapor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85800" y="5812536"/>
            <a:ext cx="10789920" cy="560832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5885688"/>
            <a:ext cx="3560674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 ve audit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4570171" y="5885688"/>
            <a:ext cx="6473952" cy="46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Operasyon, finans, kullanım, güvenlik ve izlenebilirlik</a:t>
            </a:r>
            <a:endParaRPr lang="en-US" sz="8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MVP kapsamı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sürüm hem sağlık hem konaklama dikeyini içermeli; böylece çekirdeğin gerçekten genel çalıştığı erken doğrulanır.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3291840" cy="4480560"/>
          </a:xfrm>
          <a:prstGeom prst="roundRect">
            <a:avLst>
              <a:gd name="adj" fmla="val 1944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çekirdek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103120"/>
            <a:ext cx="265176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Tenant ve organizasyon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Kullanıcı, rol ve yetki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 sahibi ve aile modeli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Program, plan ve hak cüzdanı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Sağlayıcı ve hizmet katalogu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Talep, durum ve belge yönetimi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Kural motoru başlangıcı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Fatura, icmal, audit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291840" cy="4480560"/>
          </a:xfrm>
          <a:prstGeom prst="roundRect">
            <a:avLst>
              <a:gd name="adj" fmla="val 1944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dikeyi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1728" y="2103120"/>
            <a:ext cx="265176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Uygunluk sorgusu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Başvuru / takip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Ayakta hizmet kaydı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Temel yatarak ön onay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Belge ve rapor ekleme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Onay/ret/iade akışı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Fatura eşleştirme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İcmal hazırlama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291840" cy="4480560"/>
          </a:xfrm>
          <a:prstGeom prst="roundRect">
            <a:avLst>
              <a:gd name="adj" fmla="val 1944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Konaklama dikeyi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30768" y="2103120"/>
            <a:ext cx="265176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Tesis ve oda katalogu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Dönemsel kapasite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Gece hakkı kontrolü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Rezervasyon hold’u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Katkı payı hesaplama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Voucher / QR kod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İptal ve no-show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Fatura ve mutabakat</a:t>
            </a:r>
            <a:endParaRPr lang="en-US" sz="11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ve pilot yol haritası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hedef: kontrollü pilotla kurumsal değeri göstermek; sonra dikey ve entegrasyonları büyütmek.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10469880" cy="0"/>
          </a:xfrm>
          <a:prstGeom prst="line">
            <a:avLst/>
          </a:prstGeom>
          <a:noFill/>
          <a:ln w="16510">
            <a:solidFill>
              <a:srgbClr val="2D55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481328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Analiz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kuralları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36982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982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4122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Çekirdek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6806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IAM, hak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14528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528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1668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Sağlık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352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ve onay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92074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074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9214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Konaklama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1898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ve voucher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69620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620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760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Finans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9444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Fatura, icmal, ödeme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947166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7166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4306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Pilot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6990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veri + UAT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11247120" y="1481328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47120" y="15361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18520" y="191109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Ölçek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945368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Dikeyler ve entegrasyon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868680" y="370332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süresi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8992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hafta içinde sınırlı sağlayıcı ağı, sınırlı hak sahibi grubu ve ölçülebilir kabul kriterleriyle pilot önerilir.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4434840" y="370332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ölçütü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45152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süresi, manuel kontrol azalması, hata/kesinti oranı, kullanıcı memnuniyeti ve mutabakat süresi izlenir.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001000" y="3703320"/>
            <a:ext cx="3291840" cy="1234440"/>
          </a:xfrm>
          <a:prstGeom prst="roundRect">
            <a:avLst>
              <a:gd name="adj" fmla="val 5185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1312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Genişleme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11312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sonrası yeni hizmet dikeyleri, API entegrasyonları, analitik ve otomasyon modülleri eklenir.</a:t>
            </a:r>
            <a:endParaRPr lang="en-US" sz="10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 model seçenekleri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yalnız yazılım lisansı değil; gerektiğinde operasyon ve sağlayıcı ağı hizmetiyle de konumlanabilir.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27048"/>
            <a:ext cx="16002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lisansı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2743200" y="1527048"/>
            <a:ext cx="2423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lisans + kullanıcı/tenant kapsamı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527048"/>
            <a:ext cx="16002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hak sahibi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8092440" y="1527048"/>
            <a:ext cx="2423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Kapsamdaki kişi sayısına göre ücretleme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278892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944368"/>
            <a:ext cx="16002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bazlı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2743200" y="2944368"/>
            <a:ext cx="2423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Provizyon, rezervasyon, claim veya iş emri başına ücret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26480" y="278892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944368"/>
            <a:ext cx="16002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bedeli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8092440" y="2944368"/>
            <a:ext cx="2423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İK/üyelik/CRM, poliçe, ERP, SSO ve sağlayıcı entegrasyonları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77240" y="420624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361688"/>
            <a:ext cx="16002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 hizmeti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2743200" y="4361688"/>
            <a:ext cx="2423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 merkezi, ön inceleme, mutabakat, sağlayıcı yönetimi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126480" y="420624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4361688"/>
            <a:ext cx="16002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uygulama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8092440" y="4361688"/>
            <a:ext cx="2423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markasıyla hak sahibi deneyimi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960120" y="5779008"/>
            <a:ext cx="101498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 ihtiyacı: müşteriler yazılımı mı, yazılım + operasyonu mu, yoksa yazılım + sağlayıcı ağını mı daha değerli görür?</a:t>
            </a:r>
            <a:endParaRPr lang="en-US" sz="14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için değer önerisi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KAPSORA’nın satış argümanı sadece dijitalleşme değil; kontrol, şeffaflık ve genişletilebilirliktir.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246120" cy="1261872"/>
          </a:xfrm>
          <a:prstGeom prst="roundRect">
            <a:avLst>
              <a:gd name="adj" fmla="val 50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Operasyonel hız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90195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Uygunluk, onay, belge, fatura ve mutabakat tek akışta izlenir.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4498848" y="1371600"/>
            <a:ext cx="3246120" cy="1261872"/>
          </a:xfrm>
          <a:prstGeom prst="roundRect">
            <a:avLst>
              <a:gd name="adj" fmla="val 50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kontrolü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190195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Sözleşme, limit, katkı payı ve kesinti kuralları otomatik uygulanır.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266176" y="1371600"/>
            <a:ext cx="3246120" cy="1261872"/>
          </a:xfrm>
          <a:prstGeom prst="roundRect">
            <a:avLst>
              <a:gd name="adj" fmla="val 50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sahibi deneyimi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49056" y="190195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ne hakkı olduğunu, ne kadar ödeyeceğini ve talebin durumunu görür.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3246120" cy="1261872"/>
          </a:xfrm>
          <a:prstGeom prst="roundRect">
            <a:avLst>
              <a:gd name="adj" fmla="val 50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disiplini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77647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Sağlayıcılar aynı kurala göre işlem yapar; eksik belge ve iade azalır.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498848" y="3246120"/>
            <a:ext cx="3246120" cy="1261872"/>
          </a:xfrm>
          <a:prstGeom prst="roundRect">
            <a:avLst>
              <a:gd name="adj" fmla="val 50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Denetlenebilirlik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81728" y="377647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karar, belge, kural sürümü ve ödeme referansı geriye dönük izlenir.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266176" y="3246120"/>
            <a:ext cx="3246120" cy="1261872"/>
          </a:xfrm>
          <a:prstGeom prst="roundRect">
            <a:avLst>
              <a:gd name="adj" fmla="val 5072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Genişleme kabiliyeti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49056" y="3776472"/>
            <a:ext cx="2743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Sağlıkla başlayan yapı konaklama, asistans, eğitim ve başka faydalara açılır.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1005840" y="5760720"/>
            <a:ext cx="101498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Özet: KAPSORA, kurumun verdiği hak ile sağlayıcının sunduğu hizmet arasındaki güvenilir kontrol katmanıdır.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Sizden özellikle beklediğimiz geri bildirimler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sorulara verilecek yanıtlar MVP kapsamını ve pilot teklifini netleştirir.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98448"/>
            <a:ext cx="10789920" cy="5074920"/>
          </a:xfrm>
          <a:prstGeom prst="roundRect">
            <a:avLst>
              <a:gd name="adj" fmla="val 1261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27632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8249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89888" y="1664208"/>
            <a:ext cx="94640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çalışan, emekli, üye, müşteri, sigortalı, öğrenci veya diğer hak sahibi gruplarının hizmet haklarını hangi sistemlerle yönetiyorsunuz?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960120" y="2249424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30428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9888" y="2286000"/>
            <a:ext cx="94640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dışında yönetmek istediğiniz en değerli hizmet kategorileri hangileri: tatil, asistans, eğitim, spor, bakım veya başka?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960120" y="2871216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2608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89888" y="2907792"/>
            <a:ext cx="94640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sahipliği ve limit kuralları merkezi mi, birimlere göre değişiyor mu?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960120" y="3493008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54787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89888" y="3529584"/>
            <a:ext cx="94640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ağı ve sözleşme fiyatları nasıl güncelleniyor?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960120" y="411480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16966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89888" y="4151376"/>
            <a:ext cx="94640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Onay, ret, iade, kesinti ve itiraz süreçlerinde en büyük operasyonel sorun nerede?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960120" y="4736592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9145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89888" y="4773168"/>
            <a:ext cx="94640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pilot için en anlamlı kapsam ne olur: sağlık, konaklama, asistans veya karma bir senaryo?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960120" y="5358384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41324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89888" y="5394960"/>
            <a:ext cx="94640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ürünün satın alma kararında hangi departmanlar yer alır?</a:t>
            </a:r>
            <a:endParaRPr lang="en-US" sz="12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öncesi netleştirilmesi gereken kararlar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kararların tamamı ürün geliştirmeyi durdurmaz; ancak müşteri pilotunun doğru kurgulanması için önemlidir.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0744200" cy="605790"/>
          </a:xfrm>
          <a:prstGeom prst="rect">
            <a:avLst/>
          </a:prstGeom>
          <a:solidFill>
            <a:srgbClr val="12304D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44752"/>
            <a:ext cx="3545586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99432" y="1444752"/>
            <a:ext cx="6446520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öneri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1977390"/>
            <a:ext cx="10744200" cy="60579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50542"/>
            <a:ext cx="3545586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hedef dikey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4599432" y="2050542"/>
            <a:ext cx="6446520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+ konaklama birlikte doğrulansın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31520" y="2583180"/>
            <a:ext cx="10744200" cy="60579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656332"/>
            <a:ext cx="3545586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kullanıcı kitlesi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599432" y="2656332"/>
            <a:ext cx="6446520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ve temsil edici bir hak sahibi grubu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31520" y="3188970"/>
            <a:ext cx="10744200" cy="60579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262122"/>
            <a:ext cx="3545586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ağı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599432" y="3262122"/>
            <a:ext cx="6446520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anlaşmalı sağlayıcıyla kontrollü pilot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10744200" cy="60579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67912"/>
            <a:ext cx="3545586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derinliği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599432" y="3867912"/>
            <a:ext cx="6446520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Başlangıçta dosya/API karma; sonra canlı API entegrasyonu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31520" y="4400550"/>
            <a:ext cx="10744200" cy="60579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473702"/>
            <a:ext cx="3545586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kapsamı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4599432" y="4473702"/>
            <a:ext cx="6446520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MVP’de ödeme emri ve mutabakat; banka ödeme entegrasyonu sonraya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31520" y="5006340"/>
            <a:ext cx="10744200" cy="60579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079492"/>
            <a:ext cx="3545586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Markalama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4599432" y="5079492"/>
            <a:ext cx="6446520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isterse white-label, aksi halde KAPSORA portalı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31520" y="5612130"/>
            <a:ext cx="10744200" cy="60579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685282"/>
            <a:ext cx="3545586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 modeli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4599432" y="5685282"/>
            <a:ext cx="6446520" cy="51435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+ opsiyonel destek hizmeti</a:t>
            </a:r>
            <a:endParaRPr lang="en-US" sz="8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KAPSORA’yı sıradan çözümlerden ayıran nokta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tek bir hizmet dikeyi için değil, kurumsal hak ve hizmet operasyonu için tasarlanır.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10744200" cy="746760"/>
          </a:xfrm>
          <a:prstGeom prst="rect">
            <a:avLst/>
          </a:prstGeom>
          <a:solidFill>
            <a:srgbClr val="12304D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490472"/>
            <a:ext cx="3545586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yaklaşım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81144" y="1490472"/>
            <a:ext cx="6446520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farkı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2164080"/>
            <a:ext cx="10744200" cy="7467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237232"/>
            <a:ext cx="3545586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ve e-posta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4581144" y="2237232"/>
            <a:ext cx="6446520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Hak, onay, belge, fatura ve ödeme tek işlem geçmişinde tutulur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13232" y="2910840"/>
            <a:ext cx="10744200" cy="7467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983992"/>
            <a:ext cx="3545586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avantaj uygulaması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581144" y="2983992"/>
            <a:ext cx="6446520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indirim göstermez; hak sahipliği, limit, katkı payı ve mutabakat yönetir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13232" y="3657600"/>
            <a:ext cx="10744200" cy="7467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730752"/>
            <a:ext cx="3545586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dikeyli sağlık çözümü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581144" y="3730752"/>
            <a:ext cx="6446520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dışı hizmetlere de genişleyen ortak hak cüzdanı ve sözleşme modeli vardır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13232" y="4404360"/>
            <a:ext cx="10744200" cy="7467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477512"/>
            <a:ext cx="3545586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muhasebe sistemi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4581144" y="4477512"/>
            <a:ext cx="6446520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Muhasebe öncesi hizmetin uygunluğunu, gerçekleşmesini ve kesintisini yönetir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13232" y="5151120"/>
            <a:ext cx="10744200" cy="746760"/>
          </a:xfrm>
          <a:prstGeom prst="rect">
            <a:avLst/>
          </a:prstGeom>
          <a:solidFill>
            <a:srgbClr val="0E263F"/>
          </a:solidFill>
          <a:ln w="7620">
            <a:solidFill>
              <a:srgbClr val="2D5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5224272"/>
            <a:ext cx="3545586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pazaryeri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4581144" y="5224272"/>
            <a:ext cx="6446520" cy="655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Kapalı devre çalışır; kurumun kuralına ve sağlayıcı sözleşmesine göre karar verir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960120" y="6035040"/>
            <a:ext cx="10149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ayrım önemli: Ürün “her şeyi satan bir pazar yeri” değil; kurumun hak ve hizmet politikalarını uygulayan güvenli orkestrasyon katmanıdır.</a:t>
            </a:r>
            <a:endParaRPr lang="en-US" sz="13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8412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sonraki adımlar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868680"/>
            <a:ext cx="1417320" cy="0"/>
          </a:xfrm>
          <a:prstGeom prst="line">
            <a:avLst/>
          </a:prstGeom>
          <a:noFill/>
          <a:ln w="25400">
            <a:solidFill>
              <a:srgbClr val="18C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509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 sonrasında hedefimiz genel beğeni değil, somut pilot çerçevesi çıkarmaktır.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89888"/>
            <a:ext cx="10652760" cy="4480560"/>
          </a:xfrm>
          <a:prstGeom prst="roundRect">
            <a:avLst>
              <a:gd name="adj" fmla="val 1429"/>
            </a:avLst>
          </a:prstGeom>
          <a:solidFill>
            <a:srgbClr val="0E263F"/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737360"/>
            <a:ext cx="310896" cy="310896"/>
          </a:xfrm>
          <a:prstGeom prst="ellipse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9222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 toplantısı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1755648"/>
            <a:ext cx="6858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Kurumun mevcut süreçleri, hizmet kategorileri ve en büyük darboğazları dinlenir.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1051560" y="246888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52374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senaryo seçimi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11880" y="2487168"/>
            <a:ext cx="6858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veya karma pilot belirlenir: sağlık, konaklama, asistans veya başka hizmet.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1051560" y="320040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25526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3218688"/>
            <a:ext cx="19202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ve veri envanteri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11880" y="3218688"/>
            <a:ext cx="6858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sahipliği, plan, sağlayıcı, fiyat, limit ve onay kuralları çıkarılır.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1051560" y="393192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9867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3950208"/>
            <a:ext cx="19202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keşif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11880" y="3950208"/>
            <a:ext cx="6858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üyelik/İK/CRM/poliçe, ERP/fatura, SMS/e-posta ve sağlayıcı entegrasyonları değerlendirilir.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1051560" y="4663440"/>
            <a:ext cx="310896" cy="310896"/>
          </a:xfrm>
          <a:prstGeom prst="ellipse">
            <a:avLst/>
          </a:prstGeom>
          <a:solidFill>
            <a:srgbClr val="18C6C8"/>
          </a:solidFill>
          <a:ln w="12700">
            <a:solidFill>
              <a:srgbClr val="18C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7183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4681728"/>
            <a:ext cx="19202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teklif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611880" y="4681728"/>
            <a:ext cx="68580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D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Kapsam, süre, başarı kriterleri, entegrasyonlar ve ticari model netleştirilir.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987552" y="6053328"/>
            <a:ext cx="10149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sonunda ideal çıktı: “Şu kapsamda, şu kullanıcı grubuyla, şu sağlayıcılarla pilot yapalım.”</a:t>
            </a:r>
            <a:endParaRPr lang="en-US" sz="13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apsora_asset_city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58368"/>
            <a:ext cx="5486400" cy="5212080"/>
          </a:xfrm>
          <a:prstGeom prst="roundRect">
            <a:avLst>
              <a:gd name="adj" fmla="val 1228"/>
            </a:avLst>
          </a:prstGeom>
          <a:solidFill>
            <a:srgbClr val="071526">
              <a:alpha val="98000"/>
            </a:srgbClr>
          </a:solidFill>
          <a:ln w="12700">
            <a:solidFill>
              <a:srgbClr val="2D557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1024128" y="1874520"/>
            <a:ext cx="452628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hak ve hizmet yönetimini sağlıkla sınırlamadan, tek güvenilir kontrol katmanında toplamak.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24128" y="2999232"/>
            <a:ext cx="43434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6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Görüşleriniz; ürün kapsamı, pilot planı ve ticari modeli netleştirmek için doğrudan kullanılacaktır.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24128" y="3977640"/>
            <a:ext cx="2331720" cy="246888"/>
          </a:xfrm>
          <a:prstGeom prst="roundRect">
            <a:avLst>
              <a:gd name="adj" fmla="val 18519"/>
            </a:avLst>
          </a:prstGeom>
          <a:solidFill>
            <a:srgbClr val="F5B544">
              <a:alpha val="90000"/>
            </a:srgbClr>
          </a:solidFill>
          <a:ln w="8890">
            <a:solidFill>
              <a:srgbClr val="F5B544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4027932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7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 için hazırlanmıştır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KAPSORA | Müşteri değerlendirme sunumu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65408" y="65288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KAPSORA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KAPSORA - Kurumsal Hak, Fayda ve Hizmet Orkestrasyon Platformu</dc:title>
  <dc:subject>KAPSORA kurum ve kuruluşlar için müşteri geri bildirim sunumu</dc:subject>
  <dc:creator>KAPSORA</dc:creator>
  <cp:lastModifiedBy>KAPSORA</cp:lastModifiedBy>
  <cp:revision>1</cp:revision>
  <dcterms:created xsi:type="dcterms:W3CDTF">2026-08-08T17:02:59Z</dcterms:created>
  <dcterms:modified xsi:type="dcterms:W3CDTF">2026-08-08T17:02:59Z</dcterms:modified>
</cp:coreProperties>
</file>